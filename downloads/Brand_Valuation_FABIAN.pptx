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rgbClr val="C9A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9A961"/>
                </a:solidFill>
                <a:latin typeface="Calibri"/>
              </a:rPr>
              <a:t>FABIAN  ·  BRAND VALUATION  ·  ISO 10668:2010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600" b="0" i="0">
                <a:solidFill>
                  <a:srgbClr val="FFFFFF"/>
                </a:solidFill>
                <a:latin typeface="Cambria"/>
              </a:rPr>
              <a:t>Отчёт об оценке
стоимости бренда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931920"/>
            <a:ext cx="109728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FFFFFF"/>
                </a:solidFill>
                <a:latin typeface="Cambria"/>
              </a:rPr>
              <a:t>FABIAN — премиальная негазированная столовая вода в стекле для HoReCa СНГ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A961"/>
                </a:solidFill>
                <a:latin typeface="Calibri"/>
              </a:rPr>
              <a:t>По стандарту ISO 10668:2010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Дата оценки: 11 мая 2026 г.   ·   Заказчик: Абдул-Хаким Ахмадович Кагиров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548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C9A961"/>
                </a:solidFill>
                <a:latin typeface="Calibri"/>
              </a:rPr>
              <a:t>Конфиденциально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3A8E"/>
                </a:solidFill>
                <a:latin typeface="Cambria"/>
              </a:rPr>
              <a:t>Объект оценки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91440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231343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Товарный знак FABIAN (Роспатент свидетельство № 648525, класс 32 МКТУ)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281635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Дата приоритета — 24 апреля 2017 г.; срок действия до 24 апреля 2027 г.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31927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Правообладатель — ООО «Группа Компаний Центр» (г. Москва)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82219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03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Комплекс брендовых активов: визуальная идентичность, мультиязычный лендинг, презентации, ТЭО, финансовая модель, IB-меморандум, ТУ + HACCP, договорные шаблоны, торговые реестры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3A8E"/>
                </a:solidFill>
                <a:latin typeface="Cambria"/>
              </a:rPr>
              <a:t>Методологическая база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91440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231343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ISO 10668:2010 — Brand Valuation. Requirements for Monetary Brand Valuation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281635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ISO 20671:2019 — Brand Evaluation. Fundamentals and Principles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31927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RICS Valuation — Global Standards 2022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82219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03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IVS 210 — Intangible Assets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2511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062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AICPA Accounting and Valuation Guide (по аналогии)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82803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091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Три анализа: финансовый, поведенческий, правовой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533095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2120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Три подхода: доходный (60 %), сравнительный (30 %), затратный (10 %)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3A8E"/>
                </a:solidFill>
                <a:latin typeface="Cambria"/>
              </a:rPr>
              <a:t>Индекс силы бренда (BSI)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55A70"/>
                </a:solidFill>
                <a:latin typeface="Calibri"/>
              </a:rPr>
              <a:t>10 параметров, взвешенное среднее 0–100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73152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9441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3276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Параметр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Вес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РФ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СНГ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Осведомлённость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12 %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Дифференциация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12 %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Воспринимаемое качество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Готовность HoReCa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Качество продукта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Опциональность географии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Правовая защита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Ценовая власть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Маркетинговый бюджет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Трек-рекорд менеджмента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15 %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Итоговый BSI (после floor-haircut)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47 / 100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53 / 100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3A8E"/>
                </a:solidFill>
                <a:latin typeface="Cambria"/>
              </a:rPr>
              <a:t>Оценка правового риска (Legal Risk Score)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91440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231343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Итоговый балл: 4 / 10 — умеренный риск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281635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Главный фактор: истечение регистрации товарного знака 24 апреля 2027 г.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31927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Окно подачи на продление: 24 апреля 2026 — 24 октября 2026 г.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82219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03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При несвоевременном продлении стоимость снизится на 60–70 %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2511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062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Рекомендация: привлечь юр. советника не позднее сентября 2026 г.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82803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091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Корректировочный фактор: −7 % к индикации доходного подхода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3A8E"/>
                </a:solidFill>
                <a:latin typeface="Cambria"/>
              </a:rPr>
              <a:t>Доходный подход — Relief-from-Royalty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55A70"/>
                </a:solidFill>
                <a:latin typeface="Calibri"/>
              </a:rPr>
              <a:t>Сценарий «СНГ»: ставка роялти 5,0 %, WACC 25 %, налог 20 %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73152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94415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4913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Год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Выручка, млн ₽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Роялти after-tax, млн ₽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DF (25 %)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PV, млн ₽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Y1 (2026)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22,0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0,800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17,60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Y2 (2027)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1 670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66,8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0,640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42,75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Y3 (2028)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3 360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134,4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0,512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68,81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Y4 (2029)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6 000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240,0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0,410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98,40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Y5 (2030)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8 640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345,6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0,328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113,36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PV эксплицит. периода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340,92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PV терминальной (g = 2,5 %)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516,40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Валовая стоимость бренда (PV)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857,32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× Фактор корректировки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0,640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4913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= Чистая стоимость бренда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548,69 ≈ $6,10M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3A8E"/>
                </a:solidFill>
                <a:latin typeface="Cambria"/>
              </a:rPr>
              <a:t>Сравнительный подход — мультипликаторы сделок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55A70"/>
                </a:solidFill>
                <a:latin typeface="Calibri"/>
              </a:rPr>
              <a:t>5 референсных сделок в секторе бутилированной воды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73152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94415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36004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Сделка / год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EV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Бренд в EV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Borjomi / Alfa Group, 2013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~$350M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7,0×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60–70 %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Святой Источник / CCHBC, 2014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₽1,5–1,8 млрд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5,5×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~50 %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Acqua Filette / Bottlero, 2019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€38M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7,0×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~40 %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Voss Water / Reign Capital, 2022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$250–320M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6,5–7,5×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45–55 %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Aqua Carpatica, 2023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€280–320M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5,0–5,5×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~35 %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FABIAN «РФ» — выбор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EBITDA × 5,5×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35 %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6004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FABIAN «СНГ» — выбор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EBITDA × 6,0×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38 %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3A8E"/>
                </a:solidFill>
                <a:latin typeface="Cambria"/>
              </a:rPr>
              <a:t>Затратный подход — Cost-to-Recreate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91440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231343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Стоимость воссоздания 11 брендовых активов: $322 тыс.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281635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Регистрация и поддержание товарного знака: $45 тыс.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31927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Загрузка времени собственника (30 %): $110 тыс.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82219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03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Итоговая стоимость воссоздания: $477 тыс. ≈ ₽42,9 млн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2511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062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Принят как ценовой пол: $0,50 млн для обоих сценариев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82803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091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Источник: EY Intangible Cost Approach Guidance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3A8E"/>
                </a:solidFill>
                <a:latin typeface="Cambria"/>
              </a:rPr>
              <a:t>Согласование результатов трёх подходов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55A70"/>
                </a:solidFill>
                <a:latin typeface="Calibri"/>
              </a:rPr>
              <a:t>Веса: доходный 60 %, сравнительный 30 %, затратный 10 %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73152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94415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38404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Подход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Вес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РФ ($M)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Взвеш. РФ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СНГ ($M)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Взвеш. СНГ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</a:tr>
              <a:tr h="38404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Доходный (Relief-from-Royalty)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60 %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2,40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1,44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6,10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3,66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8404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Сравнительный (Multiples)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0,63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5,40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1,62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8404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Затратный (Cost-to-Recreate)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0,50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0,05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8405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Итог (середина)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2,12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5,33</a:t>
                      </a:r>
                    </a:p>
                  </a:txBody>
                  <a:tcPr marL="50000" marR="50000" marT="40000" marB="40000">
                    <a:solidFill>
                      <a:srgbClr val="C9A96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3A8E"/>
                </a:solidFill>
                <a:latin typeface="Cambria"/>
              </a:rPr>
              <a:t>Сценарии «только РФ» vs «СНГ»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55A70"/>
                </a:solidFill>
                <a:latin typeface="Calibri"/>
              </a:rPr>
              <a:t>Сравнение ключевых параметров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73152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94415" cy="3520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35204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Только РФ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СНГ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</a:tr>
              <a:tr h="35204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Чистая выручка Y5 (млн ₽)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5 800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8 640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5204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EBITDA Y5 (млн ₽)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1 160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1 950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5204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Рентабельность по EBITDA Y5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20,0 %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22,6 %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5204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Терминальная EV ($M)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77,3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130,0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5204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Ставка роялти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4,0 %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5,0 %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5204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WACC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26 %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25 %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5204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BSI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47 / 100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53 / 100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35204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Стоимость бренда (середина, $M)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2,1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5,0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35205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Подразумеваемый раунд ($M)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4–5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7–8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B3A8E"/>
                </a:solidFill>
                <a:latin typeface="Cambria"/>
              </a:rPr>
              <a:t>Анализ чувствительности — СНГ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55A70"/>
                </a:solidFill>
                <a:latin typeface="Calibri"/>
              </a:rPr>
              <a:t>Ставка роялти × WACC, итоговая стоимость в $M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73152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94415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4000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Роялти \ WACC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23 %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25 %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27 %</a:t>
                      </a:r>
                    </a:p>
                  </a:txBody>
                  <a:tcPr marL="50000" marR="50000" marT="40000" marB="40000">
                    <a:solidFill>
                      <a:srgbClr val="1B3A8E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4,0 %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6,20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4,88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3,95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5,0 % (база)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7,75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6,10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4,94</a:t>
                      </a:r>
                    </a:p>
                  </a:txBody>
                  <a:tcPr marL="50000" marR="50000" marT="40000" marB="40000">
                    <a:solidFill>
                      <a:srgbClr val="F4F1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6,0 %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9,30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7,32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A0E27"/>
                          </a:solidFill>
                          <a:latin typeface="Calibri"/>
                        </a:rPr>
                        <a:t>5,93</a:t>
                      </a:r>
                    </a:p>
                  </a:txBody>
                  <a:tcPr marL="50000" marR="5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3A8E"/>
                </a:solidFill>
                <a:latin typeface="Cambria"/>
              </a:rPr>
              <a:t>Сферы применения итоговой стоимости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91440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231343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Лицензионные соглашения: ставка 4–5 % от чистой выручки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281635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Неденежный вклад в СП: ₽189 млн (РФ) / ₽450 млн (СНГ)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31927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База для M&amp;A: $1,4–3,2M (РФ) / $3,4–7,6M (СНГ)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82219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03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Банковский залог: 30–40 % от середины (дисконт 60–70 %)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2511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062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Бухгалтерское признание: ПБУ 14/2007, IAS 38, IVS 210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82803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091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Series A: бренд = 18–26 % пост-маней оценки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rgbClr val="C9A9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9A961"/>
                </a:solidFill>
                <a:latin typeface="Calibri"/>
              </a:rPr>
              <a:t>Раздел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ЗАКЛЮЧЕНИЕ О СТОИМОСТИ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91440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961"/>
                </a:solidFill>
                <a:latin typeface="Calibri"/>
              </a:rPr>
              <a:t>Сценарий «только РФ»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7432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mbria"/>
              </a:rPr>
              <a:t>$2,1M (₽189 млн)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7432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Диапазон: $1,4–3,2M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961"/>
                </a:solidFill>
                <a:latin typeface="Calibri"/>
              </a:rPr>
              <a:t>Сценарий «СНГ»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5204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mbria"/>
              </a:rPr>
              <a:t>$5,0M (₽450 млн)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5204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Диапазон: $3,4–7,6M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C9A961"/>
                </a:solidFill>
                <a:latin typeface="Calibri"/>
              </a:rPr>
              <a:t>Точечное мнение Оценщика. При успешном пилоте Y1 — переоценка до $12M (РФ) / $25M (СНГ).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3A8E"/>
                </a:solidFill>
                <a:latin typeface="Cambria"/>
              </a:rPr>
              <a:t>Главный риск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91440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231343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Истечение регистрации товарного знака — 24 апреля 2027 г.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281635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Окно подачи: 24 апреля 2026 — 24 октября 2026 г. (+6 мес. льготный период)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31927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При непродлении стоимость снижается на 60–70 %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82219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03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Рекомендация: проинструктировать юр. советника не позднее сентября 2026 г.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25112"/>
            <a:ext cx="91440" cy="91440"/>
          </a:xfrm>
          <a:prstGeom prst="ellipse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062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Оценка предполагает своевременное продление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9A961"/>
                </a:solidFill>
                <a:latin typeface="Calibri"/>
              </a:rPr>
              <a:t>Раздел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3A8E"/>
                </a:solidFill>
                <a:latin typeface="Cambria"/>
              </a:rPr>
              <a:t>Контакты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914400" cy="19050"/>
          </a:xfrm>
          <a:prstGeom prst="rect">
            <a:avLst/>
          </a:prstGeom>
          <a:solidFill>
            <a:srgbClr val="C9A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0E27"/>
                </a:solidFill>
                <a:latin typeface="Cambria"/>
              </a:rPr>
              <a:t>Абдул-Хаким Ахмадович Кагиров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Телефоны: +7 (969) 795-55-55   ·   +7 (925) 203-77-77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E-mail: aslankaa@yandex.ru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0A0E27"/>
                </a:solidFill>
                <a:latin typeface="Calibri"/>
              </a:rPr>
              <a:t>Сайт: aslankaa.com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55A70"/>
                </a:solidFill>
                <a:latin typeface="Calibri"/>
              </a:rPr>
              <a:t>Конфиденциально. Документ подготовлен исключительно для адресата.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55A70"/>
                </a:solidFill>
                <a:latin typeface="Calibri"/>
              </a:rPr>
              <a:t>FABIAN · Отчёт об оценке бренда · ISO 10668:2010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A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